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exend Light"/>
      <p:regular r:id="rId18"/>
      <p:bold r:id="rId19"/>
    </p:embeddedFont>
    <p:embeddedFont>
      <p:font typeface="Lexen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1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c5738fad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c5738fa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c5738fade7_0_1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3c5738fade7_0_1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3c5738fade7_0_1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3c5738fade7_0_1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c5738fade7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c5738fade7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3c5738fade7_0_2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3c5738fade7_0_2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c5738fade7_0_2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3c5738fade7_0_2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3c5738fade7_0_2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3c5738fade7_0_2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3c5738fade7_0_2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3c5738fade7_0_2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3c5738fade7_0_2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3c5738fade7_0_2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3c5738fade7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3c5738fade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3c5738fade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3c5738fade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3c5738fade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3c5738fade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33"/>
          <p:cNvSpPr txBox="1"/>
          <p:nvPr>
            <p:ph type="title"/>
          </p:nvPr>
        </p:nvSpPr>
        <p:spPr>
          <a:xfrm>
            <a:off x="311700" y="863225"/>
            <a:ext cx="6806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Global AI Readiness and Technological Leadership Across Countries</a:t>
            </a:r>
            <a:endParaRPr sz="3600"/>
          </a:p>
        </p:txBody>
      </p:sp>
      <p:sp>
        <p:nvSpPr>
          <p:cNvPr id="1866" name="Google Shape;1866;p33"/>
          <p:cNvSpPr txBox="1"/>
          <p:nvPr/>
        </p:nvSpPr>
        <p:spPr>
          <a:xfrm>
            <a:off x="699950" y="3814375"/>
            <a:ext cx="26346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Done By:</a:t>
            </a:r>
            <a:endParaRPr b="1"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Chennakeshava Akhil Pillalamarri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Student ID: 3043182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MSDS-670: Data Visualization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Regis University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34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2" name="Google Shape;1872;p34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873" name="Google Shape;1873;p34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4" name="Google Shape;1874;p34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5" name="Google Shape;1875;p34"/>
          <p:cNvSpPr/>
          <p:nvPr/>
        </p:nvSpPr>
        <p:spPr>
          <a:xfrm>
            <a:off x="1170750" y="1518600"/>
            <a:ext cx="6813300" cy="3314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6" name="Google Shape;1876;p34"/>
          <p:cNvGrpSpPr/>
          <p:nvPr/>
        </p:nvGrpSpPr>
        <p:grpSpPr>
          <a:xfrm>
            <a:off x="1240925" y="1619925"/>
            <a:ext cx="277873" cy="68400"/>
            <a:chOff x="1240925" y="1619925"/>
            <a:chExt cx="277873" cy="68400"/>
          </a:xfrm>
        </p:grpSpPr>
        <p:sp>
          <p:nvSpPr>
            <p:cNvPr id="1877" name="Google Shape;1877;p34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4"/>
          <p:cNvSpPr txBox="1"/>
          <p:nvPr>
            <p:ph type="title"/>
          </p:nvPr>
        </p:nvSpPr>
        <p:spPr>
          <a:xfrm>
            <a:off x="1952588" y="616625"/>
            <a:ext cx="49662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Project Overview</a:t>
            </a:r>
            <a:endParaRPr sz="3300"/>
          </a:p>
        </p:txBody>
      </p:sp>
      <p:sp>
        <p:nvSpPr>
          <p:cNvPr id="1881" name="Google Shape;1881;p34"/>
          <p:cNvSpPr txBox="1"/>
          <p:nvPr/>
        </p:nvSpPr>
        <p:spPr>
          <a:xfrm>
            <a:off x="1477200" y="2125950"/>
            <a:ext cx="61896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Examines AI readiness across 62 countries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Uses indicators such as talent, infrastructure, research, and commercial activity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Built using Python, Matplotlib, Seaborn, Plotly, and NetworkX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Goal: understand which factors drive global AI leadership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35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7" name="Google Shape;1887;p35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888" name="Google Shape;1888;p35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89" name="Google Shape;1889;p35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0" name="Google Shape;1890;p35"/>
          <p:cNvSpPr/>
          <p:nvPr/>
        </p:nvSpPr>
        <p:spPr>
          <a:xfrm>
            <a:off x="1170750" y="1518600"/>
            <a:ext cx="6813300" cy="3314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1" name="Google Shape;1891;p35"/>
          <p:cNvGrpSpPr/>
          <p:nvPr/>
        </p:nvGrpSpPr>
        <p:grpSpPr>
          <a:xfrm>
            <a:off x="1240925" y="1619925"/>
            <a:ext cx="277873" cy="68400"/>
            <a:chOff x="1240925" y="1619925"/>
            <a:chExt cx="277873" cy="68400"/>
          </a:xfrm>
        </p:grpSpPr>
        <p:sp>
          <p:nvSpPr>
            <p:cNvPr id="1892" name="Google Shape;1892;p35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5" name="Google Shape;1895;p35"/>
          <p:cNvSpPr txBox="1"/>
          <p:nvPr>
            <p:ph type="title"/>
          </p:nvPr>
        </p:nvSpPr>
        <p:spPr>
          <a:xfrm>
            <a:off x="1952588" y="616625"/>
            <a:ext cx="49662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Dataset</a:t>
            </a:r>
            <a:r>
              <a:rPr lang="en" sz="3300"/>
              <a:t> Overview</a:t>
            </a:r>
            <a:endParaRPr sz="3300"/>
          </a:p>
        </p:txBody>
      </p:sp>
      <p:sp>
        <p:nvSpPr>
          <p:cNvPr id="1896" name="Google Shape;1896;p35"/>
          <p:cNvSpPr txBox="1"/>
          <p:nvPr/>
        </p:nvSpPr>
        <p:spPr>
          <a:xfrm>
            <a:off x="1477200" y="2125950"/>
            <a:ext cx="61896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Source: AI Index dataset from Kaggle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62 countries, 13 variables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 numeric columns and 5 categorical columns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Main indicators: Talent, Infrastructure, Research, Development, Government Strategy, Commercial, Total Score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36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2" name="Google Shape;1902;p36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03" name="Google Shape;1903;p36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04" name="Google Shape;1904;p36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05" name="Google Shape;1905;p36"/>
          <p:cNvSpPr/>
          <p:nvPr/>
        </p:nvSpPr>
        <p:spPr>
          <a:xfrm>
            <a:off x="683150" y="1518600"/>
            <a:ext cx="3359400" cy="3257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6" name="Google Shape;1906;p36"/>
          <p:cNvGrpSpPr/>
          <p:nvPr/>
        </p:nvGrpSpPr>
        <p:grpSpPr>
          <a:xfrm>
            <a:off x="753325" y="1619925"/>
            <a:ext cx="277873" cy="68400"/>
            <a:chOff x="1240925" y="1619925"/>
            <a:chExt cx="277873" cy="68400"/>
          </a:xfrm>
        </p:grpSpPr>
        <p:sp>
          <p:nvSpPr>
            <p:cNvPr id="1907" name="Google Shape;1907;p36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6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6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0" name="Google Shape;1910;p36"/>
          <p:cNvSpPr/>
          <p:nvPr/>
        </p:nvSpPr>
        <p:spPr>
          <a:xfrm>
            <a:off x="4780625" y="1518600"/>
            <a:ext cx="3689700" cy="3357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11" name="Google Shape;1911;p36"/>
          <p:cNvSpPr txBox="1"/>
          <p:nvPr>
            <p:ph type="title"/>
          </p:nvPr>
        </p:nvSpPr>
        <p:spPr>
          <a:xfrm>
            <a:off x="1967100" y="678863"/>
            <a:ext cx="49662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Distribution</a:t>
            </a:r>
            <a:r>
              <a:rPr lang="en" sz="2400"/>
              <a:t> of Total AI Scores</a:t>
            </a:r>
            <a:endParaRPr sz="2400"/>
          </a:p>
        </p:txBody>
      </p:sp>
      <p:pic>
        <p:nvPicPr>
          <p:cNvPr id="1912" name="Google Shape;19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38" y="1916495"/>
            <a:ext cx="3277826" cy="2651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</p:pic>
      <p:sp>
        <p:nvSpPr>
          <p:cNvPr id="1913" name="Google Shape;1913;p36"/>
          <p:cNvSpPr txBox="1"/>
          <p:nvPr/>
        </p:nvSpPr>
        <p:spPr>
          <a:xfrm>
            <a:off x="4946875" y="1958300"/>
            <a:ext cx="32778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Most countries fall in the low to mid score range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Distribution is right-skewed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Only a few countries have very high AI readiness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Suggests strong global inequality in AI capability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7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9" name="Google Shape;1919;p37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20" name="Google Shape;1920;p37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1" name="Google Shape;1921;p37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2" name="Google Shape;1922;p37"/>
          <p:cNvSpPr/>
          <p:nvPr/>
        </p:nvSpPr>
        <p:spPr>
          <a:xfrm>
            <a:off x="683150" y="1518600"/>
            <a:ext cx="3359400" cy="3257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3" name="Google Shape;1923;p37"/>
          <p:cNvGrpSpPr/>
          <p:nvPr/>
        </p:nvGrpSpPr>
        <p:grpSpPr>
          <a:xfrm>
            <a:off x="753325" y="1619925"/>
            <a:ext cx="277873" cy="68400"/>
            <a:chOff x="1240925" y="1619925"/>
            <a:chExt cx="277873" cy="68400"/>
          </a:xfrm>
        </p:grpSpPr>
        <p:sp>
          <p:nvSpPr>
            <p:cNvPr id="1924" name="Google Shape;1924;p37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7" name="Google Shape;1927;p37"/>
          <p:cNvSpPr/>
          <p:nvPr/>
        </p:nvSpPr>
        <p:spPr>
          <a:xfrm>
            <a:off x="4780625" y="1518600"/>
            <a:ext cx="3689700" cy="3357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28" name="Google Shape;1928;p37"/>
          <p:cNvSpPr txBox="1"/>
          <p:nvPr>
            <p:ph type="title"/>
          </p:nvPr>
        </p:nvSpPr>
        <p:spPr>
          <a:xfrm>
            <a:off x="1967100" y="678863"/>
            <a:ext cx="49662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Top 10 Countries in AI Readiness</a:t>
            </a:r>
            <a:endParaRPr sz="2300"/>
          </a:p>
        </p:txBody>
      </p:sp>
      <p:sp>
        <p:nvSpPr>
          <p:cNvPr id="1929" name="Google Shape;1929;p37"/>
          <p:cNvSpPr txBox="1"/>
          <p:nvPr/>
        </p:nvSpPr>
        <p:spPr>
          <a:xfrm>
            <a:off x="4946875" y="1958300"/>
            <a:ext cx="32778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United States is the clear leader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China ranks second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Top 10 dominated by advanced economies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Large performance gap between the leader and the rest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30" name="Google Shape;193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325" y="2118700"/>
            <a:ext cx="3206575" cy="2081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38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6" name="Google Shape;1936;p38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37" name="Google Shape;1937;p38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8" name="Google Shape;1938;p38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39" name="Google Shape;1939;p38"/>
          <p:cNvSpPr/>
          <p:nvPr/>
        </p:nvSpPr>
        <p:spPr>
          <a:xfrm>
            <a:off x="683150" y="1518600"/>
            <a:ext cx="3359400" cy="3257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38"/>
          <p:cNvGrpSpPr/>
          <p:nvPr/>
        </p:nvGrpSpPr>
        <p:grpSpPr>
          <a:xfrm>
            <a:off x="753325" y="1619925"/>
            <a:ext cx="277873" cy="68400"/>
            <a:chOff x="1240925" y="1619925"/>
            <a:chExt cx="277873" cy="68400"/>
          </a:xfrm>
        </p:grpSpPr>
        <p:sp>
          <p:nvSpPr>
            <p:cNvPr id="1941" name="Google Shape;1941;p38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4" name="Google Shape;1944;p38"/>
          <p:cNvSpPr/>
          <p:nvPr/>
        </p:nvSpPr>
        <p:spPr>
          <a:xfrm>
            <a:off x="4780625" y="1518600"/>
            <a:ext cx="3689700" cy="3357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45" name="Google Shape;1945;p38"/>
          <p:cNvSpPr txBox="1"/>
          <p:nvPr>
            <p:ph type="title"/>
          </p:nvPr>
        </p:nvSpPr>
        <p:spPr>
          <a:xfrm>
            <a:off x="1967100" y="678863"/>
            <a:ext cx="49662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AI Readiness Distribution by Region</a:t>
            </a:r>
            <a:endParaRPr sz="2100"/>
          </a:p>
        </p:txBody>
      </p:sp>
      <p:sp>
        <p:nvSpPr>
          <p:cNvPr id="1946" name="Google Shape;1946;p38"/>
          <p:cNvSpPr txBox="1"/>
          <p:nvPr/>
        </p:nvSpPr>
        <p:spPr>
          <a:xfrm>
            <a:off x="4946875" y="1785275"/>
            <a:ext cx="32778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Compares AI readiness scores across different world regions</a:t>
            </a:r>
            <a:b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Europe and Asia-Pacific show stronger overall AI readiness levels</a:t>
            </a:r>
            <a:b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Americas include the highest scoring country globally</a:t>
            </a:r>
            <a:b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Africa has the lowest overall distribution of AI readiness</a:t>
            </a:r>
            <a:b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Regional differences highlight global inequality in AI development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47" name="Google Shape;19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50" y="1785275"/>
            <a:ext cx="3277800" cy="28853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39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3" name="Google Shape;1953;p39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54" name="Google Shape;1954;p39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55" name="Google Shape;1955;p39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6" name="Google Shape;1956;p39"/>
          <p:cNvSpPr/>
          <p:nvPr/>
        </p:nvSpPr>
        <p:spPr>
          <a:xfrm>
            <a:off x="683150" y="1518600"/>
            <a:ext cx="3359400" cy="3257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39"/>
          <p:cNvGrpSpPr/>
          <p:nvPr/>
        </p:nvGrpSpPr>
        <p:grpSpPr>
          <a:xfrm>
            <a:off x="753325" y="1619925"/>
            <a:ext cx="277873" cy="68400"/>
            <a:chOff x="1240925" y="1619925"/>
            <a:chExt cx="277873" cy="68400"/>
          </a:xfrm>
        </p:grpSpPr>
        <p:sp>
          <p:nvSpPr>
            <p:cNvPr id="1958" name="Google Shape;1958;p39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9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9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1" name="Google Shape;1961;p39"/>
          <p:cNvSpPr/>
          <p:nvPr/>
        </p:nvSpPr>
        <p:spPr>
          <a:xfrm>
            <a:off x="4780625" y="1518600"/>
            <a:ext cx="3689700" cy="3357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62" name="Google Shape;1962;p39"/>
          <p:cNvSpPr txBox="1"/>
          <p:nvPr>
            <p:ph type="title"/>
          </p:nvPr>
        </p:nvSpPr>
        <p:spPr>
          <a:xfrm>
            <a:off x="1967100" y="678863"/>
            <a:ext cx="49662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Correlation Between AI Indicators</a:t>
            </a:r>
            <a:endParaRPr sz="2200"/>
          </a:p>
        </p:txBody>
      </p:sp>
      <p:sp>
        <p:nvSpPr>
          <p:cNvPr id="1963" name="Google Shape;1963;p39"/>
          <p:cNvSpPr txBox="1"/>
          <p:nvPr/>
        </p:nvSpPr>
        <p:spPr>
          <a:xfrm>
            <a:off x="4946875" y="1619925"/>
            <a:ext cx="3277800" cy="30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Shows relationships between major AI indicators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Research has the strongest relationship with total AI readiness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Development and commercial activity also strongly correlate with AI score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Talent contributes significantly to overall AI capability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Indicates that AI readiness depends on multiple interconnected factors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64" name="Google Shape;19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325" y="1871775"/>
            <a:ext cx="3241925" cy="2842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40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0" name="Google Shape;1970;p40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71" name="Google Shape;1971;p40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72" name="Google Shape;1972;p40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73" name="Google Shape;1973;p40"/>
          <p:cNvSpPr/>
          <p:nvPr/>
        </p:nvSpPr>
        <p:spPr>
          <a:xfrm>
            <a:off x="311700" y="1518600"/>
            <a:ext cx="3998100" cy="3257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4" name="Google Shape;1974;p40"/>
          <p:cNvGrpSpPr/>
          <p:nvPr/>
        </p:nvGrpSpPr>
        <p:grpSpPr>
          <a:xfrm>
            <a:off x="395266" y="1619925"/>
            <a:ext cx="330696" cy="68400"/>
            <a:chOff x="1240925" y="1619925"/>
            <a:chExt cx="277873" cy="68400"/>
          </a:xfrm>
        </p:grpSpPr>
        <p:sp>
          <p:nvSpPr>
            <p:cNvPr id="1975" name="Google Shape;1975;p40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0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0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8" name="Google Shape;1978;p40"/>
          <p:cNvSpPr/>
          <p:nvPr/>
        </p:nvSpPr>
        <p:spPr>
          <a:xfrm>
            <a:off x="4780625" y="1518600"/>
            <a:ext cx="3689700" cy="3357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79" name="Google Shape;1979;p40"/>
          <p:cNvSpPr txBox="1"/>
          <p:nvPr>
            <p:ph type="title"/>
          </p:nvPr>
        </p:nvSpPr>
        <p:spPr>
          <a:xfrm>
            <a:off x="1967100" y="678863"/>
            <a:ext cx="49662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Global AI Readiness Map</a:t>
            </a:r>
            <a:endParaRPr sz="2400"/>
          </a:p>
        </p:txBody>
      </p:sp>
      <p:sp>
        <p:nvSpPr>
          <p:cNvPr id="1980" name="Google Shape;1980;p40"/>
          <p:cNvSpPr txBox="1"/>
          <p:nvPr/>
        </p:nvSpPr>
        <p:spPr>
          <a:xfrm>
            <a:off x="4946875" y="1688325"/>
            <a:ext cx="3277800" cy="29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Choropleth map visualizes AI readiness geographically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High readiness concentrated in North America, Europe, and parts of Asia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Many developing regions show lower readiness scores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Highlights global disparities in AI development and investment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Geographic visualization helps identify global technology leaders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81" name="Google Shape;1981;p40" title="Global_AI_Readiness_Ind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75" y="1991100"/>
            <a:ext cx="3863225" cy="2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41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7" name="Google Shape;1987;p41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88" name="Google Shape;1988;p41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9" name="Google Shape;1989;p41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0" name="Google Shape;1990;p41"/>
          <p:cNvSpPr/>
          <p:nvPr/>
        </p:nvSpPr>
        <p:spPr>
          <a:xfrm>
            <a:off x="683150" y="1518600"/>
            <a:ext cx="3359400" cy="3257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1" name="Google Shape;1991;p41"/>
          <p:cNvGrpSpPr/>
          <p:nvPr/>
        </p:nvGrpSpPr>
        <p:grpSpPr>
          <a:xfrm>
            <a:off x="753325" y="1619925"/>
            <a:ext cx="277873" cy="68400"/>
            <a:chOff x="1240925" y="1619925"/>
            <a:chExt cx="277873" cy="68400"/>
          </a:xfrm>
        </p:grpSpPr>
        <p:sp>
          <p:nvSpPr>
            <p:cNvPr id="1992" name="Google Shape;1992;p41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1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1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5" name="Google Shape;1995;p41"/>
          <p:cNvSpPr/>
          <p:nvPr/>
        </p:nvSpPr>
        <p:spPr>
          <a:xfrm>
            <a:off x="4780625" y="1518600"/>
            <a:ext cx="3689700" cy="33576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96" name="Google Shape;1996;p41"/>
          <p:cNvSpPr txBox="1"/>
          <p:nvPr>
            <p:ph type="title"/>
          </p:nvPr>
        </p:nvSpPr>
        <p:spPr>
          <a:xfrm>
            <a:off x="1967100" y="678863"/>
            <a:ext cx="49662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Network Graph of AI Indicators</a:t>
            </a:r>
            <a:endParaRPr sz="2400"/>
          </a:p>
        </p:txBody>
      </p:sp>
      <p:sp>
        <p:nvSpPr>
          <p:cNvPr id="1997" name="Google Shape;1997;p41"/>
          <p:cNvSpPr txBox="1"/>
          <p:nvPr/>
        </p:nvSpPr>
        <p:spPr>
          <a:xfrm>
            <a:off x="4946875" y="1619925"/>
            <a:ext cx="3277800" cy="3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Visualizes relationships between key AI indicators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Strong correlations create connections between variables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Total AI score acts as the central node in the network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Research, development, talent, and commercial activity form the strongest links</a:t>
            </a:r>
            <a:b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 Light"/>
              <a:buChar char="●"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Demonstrates that AI readiness emerges from an interconnected ecosystem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98" name="Google Shape;199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325" y="1887525"/>
            <a:ext cx="3277799" cy="27020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42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4" name="Google Shape;2004;p42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2005" name="Google Shape;2005;p42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6" name="Google Shape;2006;p42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7" name="Google Shape;2007;p42"/>
          <p:cNvSpPr/>
          <p:nvPr/>
        </p:nvSpPr>
        <p:spPr>
          <a:xfrm>
            <a:off x="1170750" y="1518600"/>
            <a:ext cx="6813300" cy="3314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8" name="Google Shape;2008;p42"/>
          <p:cNvGrpSpPr/>
          <p:nvPr/>
        </p:nvGrpSpPr>
        <p:grpSpPr>
          <a:xfrm>
            <a:off x="1240925" y="1619925"/>
            <a:ext cx="277873" cy="68400"/>
            <a:chOff x="1240925" y="1619925"/>
            <a:chExt cx="277873" cy="68400"/>
          </a:xfrm>
        </p:grpSpPr>
        <p:sp>
          <p:nvSpPr>
            <p:cNvPr id="2009" name="Google Shape;2009;p42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2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2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2" name="Google Shape;2012;p42"/>
          <p:cNvSpPr txBox="1"/>
          <p:nvPr>
            <p:ph type="title"/>
          </p:nvPr>
        </p:nvSpPr>
        <p:spPr>
          <a:xfrm>
            <a:off x="1952588" y="616625"/>
            <a:ext cx="49662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Key Insights</a:t>
            </a:r>
            <a:endParaRPr sz="3300"/>
          </a:p>
        </p:txBody>
      </p:sp>
      <p:sp>
        <p:nvSpPr>
          <p:cNvPr id="2013" name="Google Shape;2013;p42"/>
          <p:cNvSpPr txBox="1"/>
          <p:nvPr/>
        </p:nvSpPr>
        <p:spPr>
          <a:xfrm>
            <a:off x="1477200" y="1863925"/>
            <a:ext cx="61896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Global AI readiness is concentrated among a small group of countries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United States remains the dominant AI leader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Europe and Asia-Pacific regions contain several strong AI economies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Research capability strongly influences overall AI readiness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AI success depends on talent, infrastructure, development, and commercial ecosystems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43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9" name="Google Shape;2019;p43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2020" name="Google Shape;2020;p43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1" name="Google Shape;2021;p43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2" name="Google Shape;2022;p43"/>
          <p:cNvSpPr/>
          <p:nvPr/>
        </p:nvSpPr>
        <p:spPr>
          <a:xfrm>
            <a:off x="1170750" y="1518600"/>
            <a:ext cx="6813300" cy="3314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3" name="Google Shape;2023;p43"/>
          <p:cNvGrpSpPr/>
          <p:nvPr/>
        </p:nvGrpSpPr>
        <p:grpSpPr>
          <a:xfrm>
            <a:off x="1240925" y="1619925"/>
            <a:ext cx="277873" cy="68400"/>
            <a:chOff x="1240925" y="1619925"/>
            <a:chExt cx="277873" cy="68400"/>
          </a:xfrm>
        </p:grpSpPr>
        <p:sp>
          <p:nvSpPr>
            <p:cNvPr id="2024" name="Google Shape;2024;p43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43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43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7" name="Google Shape;2027;p43"/>
          <p:cNvSpPr txBox="1"/>
          <p:nvPr>
            <p:ph type="title"/>
          </p:nvPr>
        </p:nvSpPr>
        <p:spPr>
          <a:xfrm>
            <a:off x="1952588" y="616625"/>
            <a:ext cx="49662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Conclusion</a:t>
            </a:r>
            <a:endParaRPr sz="3300"/>
          </a:p>
        </p:txBody>
      </p:sp>
      <p:sp>
        <p:nvSpPr>
          <p:cNvPr id="2028" name="Google Shape;2028;p43"/>
          <p:cNvSpPr txBox="1"/>
          <p:nvPr/>
        </p:nvSpPr>
        <p:spPr>
          <a:xfrm>
            <a:off x="1477200" y="2165250"/>
            <a:ext cx="6189600" cy="20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AI readiness varies significantly across countries and regions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Economic strength and research infrastructure play a major role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Global AI leadership is dominated by a few advanced economies</a:t>
            </a:r>
            <a:b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Countries aiming to compete in AI must invest in talent, research, and technology infrastructure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44"/>
          <p:cNvSpPr/>
          <p:nvPr/>
        </p:nvSpPr>
        <p:spPr>
          <a:xfrm>
            <a:off x="1165350" y="914550"/>
            <a:ext cx="6813300" cy="33144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44"/>
          <p:cNvGrpSpPr/>
          <p:nvPr/>
        </p:nvGrpSpPr>
        <p:grpSpPr>
          <a:xfrm>
            <a:off x="1240925" y="1048575"/>
            <a:ext cx="277873" cy="68400"/>
            <a:chOff x="1240925" y="1619925"/>
            <a:chExt cx="277873" cy="68400"/>
          </a:xfrm>
        </p:grpSpPr>
        <p:sp>
          <p:nvSpPr>
            <p:cNvPr id="2035" name="Google Shape;2035;p44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4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4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8" name="Google Shape;2038;p44"/>
          <p:cNvSpPr txBox="1"/>
          <p:nvPr/>
        </p:nvSpPr>
        <p:spPr>
          <a:xfrm>
            <a:off x="3034500" y="2245350"/>
            <a:ext cx="30750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